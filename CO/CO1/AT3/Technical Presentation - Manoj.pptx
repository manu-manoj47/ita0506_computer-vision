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6825" y="351866"/>
            <a:ext cx="9658350" cy="770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035" y="1707261"/>
            <a:ext cx="10730865" cy="456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28545" y="1244853"/>
            <a:ext cx="9220835" cy="362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81835" marR="2660650">
              <a:lnSpc>
                <a:spcPct val="100000"/>
              </a:lnSpc>
              <a:spcBef>
                <a:spcPts val="100"/>
              </a:spcBef>
            </a:pPr>
            <a:r>
              <a:rPr dirty="0" sz="1800" spc="-45" b="1">
                <a:latin typeface="Times New Roman"/>
                <a:cs typeface="Times New Roman"/>
              </a:rPr>
              <a:t>SAVEETHA</a:t>
            </a:r>
            <a:r>
              <a:rPr dirty="0" sz="1800" spc="-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INSTITUTE</a:t>
            </a:r>
            <a:r>
              <a:rPr dirty="0" sz="1800" spc="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MEDICAL</a:t>
            </a:r>
            <a:r>
              <a:rPr dirty="0" sz="1800" spc="-19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AND </a:t>
            </a:r>
            <a:r>
              <a:rPr dirty="0" sz="1800" spc="-10" b="1">
                <a:latin typeface="Times New Roman"/>
                <a:cs typeface="Times New Roman"/>
              </a:rPr>
              <a:t>TECHNICAL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SCIENCES</a:t>
            </a:r>
            <a:endParaRPr sz="1800">
              <a:latin typeface="Times New Roman"/>
              <a:cs typeface="Times New Roman"/>
            </a:endParaRPr>
          </a:p>
          <a:p>
            <a:pPr algn="ctr" marR="601345">
              <a:lnSpc>
                <a:spcPct val="100000"/>
              </a:lnSpc>
              <a:spcBef>
                <a:spcPts val="380"/>
              </a:spcBef>
            </a:pPr>
            <a:r>
              <a:rPr dirty="0" sz="2800" spc="-65" b="1">
                <a:latin typeface="Times New Roman"/>
                <a:cs typeface="Times New Roman"/>
              </a:rPr>
              <a:t>Technical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presentation</a:t>
            </a:r>
            <a:endParaRPr sz="2800">
              <a:latin typeface="Times New Roman"/>
              <a:cs typeface="Times New Roman"/>
            </a:endParaRPr>
          </a:p>
          <a:p>
            <a:pPr algn="ctr" marR="677545">
              <a:lnSpc>
                <a:spcPct val="100000"/>
              </a:lnSpc>
              <a:spcBef>
                <a:spcPts val="535"/>
              </a:spcBef>
            </a:pPr>
            <a:r>
              <a:rPr dirty="0" sz="1800" spc="-10" b="1">
                <a:latin typeface="Times New Roman"/>
                <a:cs typeface="Times New Roman"/>
              </a:rPr>
              <a:t>CSA0378-</a:t>
            </a:r>
            <a:r>
              <a:rPr dirty="0" sz="1800" b="1">
                <a:latin typeface="Times New Roman"/>
                <a:cs typeface="Times New Roman"/>
              </a:rPr>
              <a:t>Data</a:t>
            </a:r>
            <a:r>
              <a:rPr dirty="0" sz="1800" spc="-10" b="1">
                <a:latin typeface="Times New Roman"/>
                <a:cs typeface="Times New Roman"/>
              </a:rPr>
              <a:t> Structures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with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Computational</a:t>
            </a:r>
            <a:r>
              <a:rPr dirty="0" sz="1800" spc="-10" b="1">
                <a:latin typeface="Times New Roman"/>
                <a:cs typeface="Times New Roman"/>
              </a:rPr>
              <a:t> Methods</a:t>
            </a:r>
            <a:endParaRPr sz="1800">
              <a:latin typeface="Times New Roman"/>
              <a:cs typeface="Times New Roman"/>
            </a:endParaRPr>
          </a:p>
          <a:p>
            <a:pPr marL="2585085" marR="144780" indent="-2573020">
              <a:lnSpc>
                <a:spcPct val="100000"/>
              </a:lnSpc>
              <a:spcBef>
                <a:spcPts val="1914"/>
              </a:spcBef>
            </a:pPr>
            <a:r>
              <a:rPr dirty="0" sz="3600">
                <a:latin typeface="Times New Roman"/>
                <a:cs typeface="Times New Roman"/>
              </a:rPr>
              <a:t>Metro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Rail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Network</a:t>
            </a:r>
            <a:r>
              <a:rPr dirty="0" sz="3600" spc="-3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Reachability</a:t>
            </a:r>
            <a:r>
              <a:rPr dirty="0" sz="3600" spc="-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Analysis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Using </a:t>
            </a:r>
            <a:r>
              <a:rPr dirty="0" sz="3600">
                <a:latin typeface="Times New Roman"/>
                <a:cs typeface="Times New Roman"/>
              </a:rPr>
              <a:t>Graph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Data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Structure</a:t>
            </a:r>
            <a:endParaRPr sz="3600">
              <a:latin typeface="Times New Roman"/>
              <a:cs typeface="Times New Roman"/>
            </a:endParaRPr>
          </a:p>
          <a:p>
            <a:pPr marL="5346700">
              <a:lnSpc>
                <a:spcPct val="100000"/>
              </a:lnSpc>
              <a:spcBef>
                <a:spcPts val="525"/>
              </a:spcBef>
            </a:pPr>
            <a:r>
              <a:rPr dirty="0" sz="2700" spc="-60">
                <a:latin typeface="Calibri"/>
                <a:cs typeface="Calibri"/>
              </a:rPr>
              <a:t>PRESENTED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BY:</a:t>
            </a:r>
            <a:endParaRPr sz="2700">
              <a:latin typeface="Calibri"/>
              <a:cs typeface="Calibri"/>
            </a:endParaRPr>
          </a:p>
          <a:p>
            <a:pPr marL="5346700">
              <a:lnSpc>
                <a:spcPct val="100000"/>
              </a:lnSpc>
            </a:pPr>
            <a:r>
              <a:rPr dirty="0" sz="2700">
                <a:latin typeface="Calibri"/>
                <a:cs typeface="Calibri"/>
              </a:rPr>
              <a:t>K.</a:t>
            </a:r>
            <a:r>
              <a:rPr dirty="0" sz="2700" spc="-135">
                <a:latin typeface="Calibri"/>
                <a:cs typeface="Calibri"/>
              </a:rPr>
              <a:t> </a:t>
            </a:r>
            <a:r>
              <a:rPr dirty="0" sz="2700" spc="-45">
                <a:latin typeface="Calibri"/>
                <a:cs typeface="Calibri"/>
              </a:rPr>
              <a:t>Manoj</a:t>
            </a:r>
            <a:r>
              <a:rPr dirty="0" sz="2700" spc="-110">
                <a:latin typeface="Calibri"/>
                <a:cs typeface="Calibri"/>
              </a:rPr>
              <a:t> </a:t>
            </a:r>
            <a:r>
              <a:rPr dirty="0" sz="2700" spc="-45">
                <a:latin typeface="Calibri"/>
                <a:cs typeface="Calibri"/>
              </a:rPr>
              <a:t>Kumar(192472395)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094" rIns="0" bIns="0" rtlCol="0" vert="horz">
            <a:spAutoFit/>
          </a:bodyPr>
          <a:lstStyle/>
          <a:p>
            <a:pPr marL="2888615">
              <a:lnSpc>
                <a:spcPct val="100000"/>
              </a:lnSpc>
              <a:spcBef>
                <a:spcPts val="95"/>
              </a:spcBef>
            </a:pPr>
            <a:r>
              <a:rPr dirty="0" sz="2800" spc="-55" b="1">
                <a:latin typeface="Times New Roman"/>
                <a:cs typeface="Times New Roman"/>
              </a:rPr>
              <a:t>SIMATS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9028" y="426212"/>
            <a:ext cx="285178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692" y="1645157"/>
            <a:ext cx="11843385" cy="3835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widely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fast,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safe,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urban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transportation.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consists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multiple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connected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railway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routes.</a:t>
            </a:r>
            <a:endParaRPr sz="2200">
              <a:latin typeface="Times New Roman"/>
              <a:cs typeface="Times New Roman"/>
            </a:endParaRPr>
          </a:p>
          <a:p>
            <a:pPr marL="469900" marR="139700" indent="-457200">
              <a:lnSpc>
                <a:spcPct val="15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200">
                <a:latin typeface="Times New Roman"/>
                <a:cs typeface="Times New Roman"/>
              </a:rPr>
              <a:t>Managing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analyzing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connections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between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important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planning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passenger navigation.</a:t>
            </a:r>
            <a:endParaRPr sz="2200">
              <a:latin typeface="Times New Roman"/>
              <a:cs typeface="Times New Roman"/>
            </a:endParaRPr>
          </a:p>
          <a:p>
            <a:pPr marL="469900" marR="857250" indent="-457200">
              <a:lnSpc>
                <a:spcPct val="1501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200" spc="-45">
                <a:latin typeface="Times New Roman"/>
                <a:cs typeface="Times New Roman"/>
              </a:rPr>
              <a:t>To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determine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whether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reachable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station,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is </a:t>
            </a:r>
            <a:r>
              <a:rPr dirty="0" sz="2200" spc="-10">
                <a:latin typeface="Times New Roman"/>
                <a:cs typeface="Times New Roman"/>
              </a:rPr>
              <a:t>required.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represented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nodes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connections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between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them.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80" rIns="0" bIns="0" rtlCol="0" vert="horz">
            <a:spAutoFit/>
          </a:bodyPr>
          <a:lstStyle/>
          <a:p>
            <a:pPr marL="364172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035" y="1707261"/>
            <a:ext cx="8619490" cy="4064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5">
                <a:latin typeface="Times New Roman"/>
                <a:cs typeface="Times New Roman"/>
              </a:rPr>
              <a:t>To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appropriate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structure.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5">
                <a:latin typeface="Times New Roman"/>
                <a:cs typeface="Times New Roman"/>
              </a:rPr>
              <a:t>To </a:t>
            </a:r>
            <a:r>
              <a:rPr dirty="0" sz="2200">
                <a:latin typeface="Times New Roman"/>
                <a:cs typeface="Times New Roman"/>
              </a:rPr>
              <a:t>model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vertices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(nodes)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edges.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50">
                <a:latin typeface="Times New Roman"/>
                <a:cs typeface="Times New Roman"/>
              </a:rPr>
              <a:t>To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determine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reachable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given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5">
                <a:latin typeface="Times New Roman"/>
                <a:cs typeface="Times New Roman"/>
              </a:rPr>
              <a:t>To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enable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traversal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algorithms.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5">
                <a:latin typeface="Times New Roman"/>
                <a:cs typeface="Times New Roman"/>
              </a:rPr>
              <a:t>To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planning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connectivity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analysis.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5">
                <a:latin typeface="Times New Roman"/>
                <a:cs typeface="Times New Roman"/>
              </a:rPr>
              <a:t>To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identify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shortest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most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path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between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45">
                <a:latin typeface="Times New Roman"/>
                <a:cs typeface="Times New Roman"/>
              </a:rPr>
              <a:t>To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improve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visualization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connections.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6934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Problem</a:t>
            </a:r>
            <a:r>
              <a:rPr dirty="0" sz="4000" spc="-210"/>
              <a:t> </a:t>
            </a:r>
            <a:r>
              <a:rPr dirty="0" sz="4000" spc="-10"/>
              <a:t>Statement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8019779" y="1633869"/>
            <a:ext cx="157480" cy="1027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780">
              <a:lnSpc>
                <a:spcPts val="2395"/>
              </a:lnSpc>
            </a:pPr>
            <a:r>
              <a:rPr dirty="0" sz="2200" spc="-50">
                <a:latin typeface="Times New Roman"/>
                <a:cs typeface="Times New Roman"/>
              </a:rPr>
              <a:t>h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2200" spc="-50">
                <a:latin typeface="Times New Roman"/>
                <a:cs typeface="Times New Roman"/>
              </a:rPr>
              <a:t>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1431" y="1590802"/>
            <a:ext cx="7767955" cy="3950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consists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multiple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throug</a:t>
            </a:r>
            <a:endParaRPr sz="2200">
              <a:latin typeface="Times New Roman"/>
              <a:cs typeface="Times New Roman"/>
            </a:endParaRPr>
          </a:p>
          <a:p>
            <a:pPr marL="240665">
              <a:lnSpc>
                <a:spcPts val="2510"/>
              </a:lnSpc>
            </a:pPr>
            <a:r>
              <a:rPr dirty="0" sz="2200">
                <a:latin typeface="Times New Roman"/>
                <a:cs typeface="Times New Roman"/>
              </a:rPr>
              <a:t>various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routes.</a:t>
            </a:r>
            <a:endParaRPr sz="2200">
              <a:latin typeface="Times New Roman"/>
              <a:cs typeface="Times New Roman"/>
            </a:endParaRPr>
          </a:p>
          <a:p>
            <a:pPr marL="240665" marR="21590" indent="-228600">
              <a:lnSpc>
                <a:spcPts val="238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must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identify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reachable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give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ts val="2510"/>
              </a:lnSpc>
              <a:spcBef>
                <a:spcPts val="5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planning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connectivity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analysis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required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for</a:t>
            </a:r>
            <a:endParaRPr sz="2200">
              <a:latin typeface="Times New Roman"/>
              <a:cs typeface="Times New Roman"/>
            </a:endParaRPr>
          </a:p>
          <a:p>
            <a:pPr marL="240665">
              <a:lnSpc>
                <a:spcPts val="2510"/>
              </a:lnSpc>
            </a:pPr>
            <a:r>
              <a:rPr dirty="0" sz="2200">
                <a:latin typeface="Times New Roman"/>
                <a:cs typeface="Times New Roman"/>
              </a:rPr>
              <a:t>passenger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navigation.</a:t>
            </a:r>
            <a:endParaRPr sz="2200">
              <a:latin typeface="Times New Roman"/>
              <a:cs typeface="Times New Roman"/>
            </a:endParaRPr>
          </a:p>
          <a:p>
            <a:pPr marL="240665" marR="681990" indent="-228600">
              <a:lnSpc>
                <a:spcPts val="238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number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increases,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managing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the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becomes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complex.</a:t>
            </a:r>
            <a:endParaRPr sz="2200">
              <a:latin typeface="Times New Roman"/>
              <a:cs typeface="Times New Roman"/>
            </a:endParaRPr>
          </a:p>
          <a:p>
            <a:pPr marL="240665" marR="99060" indent="-228600">
              <a:lnSpc>
                <a:spcPts val="238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20">
                <a:latin typeface="Times New Roman"/>
                <a:cs typeface="Times New Roman"/>
              </a:rPr>
              <a:t>A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suitable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needed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connections effectively.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solution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should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fast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traversal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discovery.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35432"/>
            <a:ext cx="1422400" cy="142836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8383089" y="92202"/>
            <a:ext cx="3778885" cy="5121910"/>
            <a:chOff x="8383089" y="92202"/>
            <a:chExt cx="3778885" cy="51219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3089" y="1502021"/>
              <a:ext cx="3410444" cy="37120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66678" y="92202"/>
              <a:ext cx="1394841" cy="1371600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" y="106288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67843" y="106288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98348" y="641604"/>
            <a:ext cx="5864860" cy="1705610"/>
            <a:chOff x="498348" y="641604"/>
            <a:chExt cx="5864860" cy="1705610"/>
          </a:xfrm>
        </p:grpSpPr>
        <p:sp>
          <p:nvSpPr>
            <p:cNvPr id="5" name="object 5" descr=""/>
            <p:cNvSpPr/>
            <p:nvPr/>
          </p:nvSpPr>
          <p:spPr>
            <a:xfrm>
              <a:off x="535673" y="1062888"/>
              <a:ext cx="104775" cy="673735"/>
            </a:xfrm>
            <a:custGeom>
              <a:avLst/>
              <a:gdLst/>
              <a:ahLst/>
              <a:cxnLst/>
              <a:rect l="l" t="t" r="r" b="b"/>
              <a:pathLst>
                <a:path w="104775" h="673735">
                  <a:moveTo>
                    <a:pt x="0" y="673455"/>
                  </a:moveTo>
                  <a:lnTo>
                    <a:pt x="104406" y="673455"/>
                  </a:lnTo>
                  <a:lnTo>
                    <a:pt x="104406" y="0"/>
                  </a:lnTo>
                  <a:lnTo>
                    <a:pt x="0" y="0"/>
                  </a:lnTo>
                  <a:lnTo>
                    <a:pt x="0" y="673455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641604"/>
              <a:ext cx="5864352" cy="170535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40080" y="656209"/>
              <a:ext cx="5591175" cy="1431925"/>
            </a:xfrm>
            <a:custGeom>
              <a:avLst/>
              <a:gdLst/>
              <a:ahLst/>
              <a:cxnLst/>
              <a:rect l="l" t="t" r="r" b="b"/>
              <a:pathLst>
                <a:path w="5591175" h="1431925">
                  <a:moveTo>
                    <a:pt x="5590794" y="0"/>
                  </a:moveTo>
                  <a:lnTo>
                    <a:pt x="0" y="0"/>
                  </a:lnTo>
                  <a:lnTo>
                    <a:pt x="0" y="1431544"/>
                  </a:lnTo>
                  <a:lnTo>
                    <a:pt x="5590794" y="1431544"/>
                  </a:lnTo>
                  <a:lnTo>
                    <a:pt x="55907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endParaRPr sz="3600"/>
          </a:p>
        </p:txBody>
      </p:sp>
      <p:sp>
        <p:nvSpPr>
          <p:cNvPr id="9" name="object 9" descr=""/>
          <p:cNvSpPr txBox="1"/>
          <p:nvPr/>
        </p:nvSpPr>
        <p:spPr>
          <a:xfrm>
            <a:off x="210413" y="2323333"/>
            <a:ext cx="7268209" cy="350075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Represent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vertex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(node)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graph.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Represent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each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two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edge.</a:t>
            </a:r>
            <a:endParaRPr sz="2200">
              <a:latin typeface="Times New Roman"/>
              <a:cs typeface="Times New Roman"/>
            </a:endParaRPr>
          </a:p>
          <a:p>
            <a:pPr marL="241300" marR="1163320" indent="-229235">
              <a:lnSpc>
                <a:spcPts val="238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Create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route information.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510"/>
              </a:lnSpc>
              <a:spcBef>
                <a:spcPts val="2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Select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which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reachability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be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dirty="0" sz="2200" spc="-10">
                <a:latin typeface="Times New Roman"/>
                <a:cs typeface="Times New Roman"/>
              </a:rPr>
              <a:t>determined.</a:t>
            </a:r>
            <a:endParaRPr sz="2200">
              <a:latin typeface="Times New Roman"/>
              <a:cs typeface="Times New Roman"/>
            </a:endParaRPr>
          </a:p>
          <a:p>
            <a:pPr algn="just" marL="241300" marR="5080" indent="-229235">
              <a:lnSpc>
                <a:spcPts val="238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Apply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traversal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algorithms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such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Breadth-</a:t>
            </a:r>
            <a:r>
              <a:rPr dirty="0" sz="2200">
                <a:latin typeface="Times New Roman"/>
                <a:cs typeface="Times New Roman"/>
              </a:rPr>
              <a:t>First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Search </a:t>
            </a:r>
            <a:r>
              <a:rPr dirty="0" sz="2200">
                <a:latin typeface="Times New Roman"/>
                <a:cs typeface="Times New Roman"/>
              </a:rPr>
              <a:t>(BFS)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Depth-</a:t>
            </a:r>
            <a:r>
              <a:rPr dirty="0" sz="2200">
                <a:latin typeface="Times New Roman"/>
                <a:cs typeface="Times New Roman"/>
              </a:rPr>
              <a:t>First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Search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(DFS).Visit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connected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stations </a:t>
            </a:r>
            <a:r>
              <a:rPr dirty="0" sz="2200">
                <a:latin typeface="Times New Roman"/>
                <a:cs typeface="Times New Roman"/>
              </a:rPr>
              <a:t>starting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station.</a:t>
            </a:r>
            <a:endParaRPr sz="2200">
              <a:latin typeface="Times New Roman"/>
              <a:cs typeface="Times New Roman"/>
            </a:endParaRPr>
          </a:p>
          <a:p>
            <a:pPr algn="just" marL="241300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Times New Roman"/>
                <a:cs typeface="Times New Roman"/>
              </a:rPr>
              <a:t>Mark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record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reachable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during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traversal.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2723" y="85115"/>
            <a:ext cx="1288796" cy="1123162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838200" y="649224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75" y="40005"/>
            <a:ext cx="1103579" cy="134289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24598" y="1553083"/>
            <a:ext cx="4025617" cy="3237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80" rIns="0" bIns="0" rtlCol="0" vert="horz">
            <a:spAutoFit/>
          </a:bodyPr>
          <a:lstStyle/>
          <a:p>
            <a:pPr marL="2512060">
              <a:lnSpc>
                <a:spcPct val="100000"/>
              </a:lnSpc>
              <a:spcBef>
                <a:spcPts val="105"/>
              </a:spcBef>
            </a:pPr>
            <a:r>
              <a:rPr dirty="0"/>
              <a:t>Results</a:t>
            </a:r>
            <a:r>
              <a:rPr dirty="0" spc="-105"/>
              <a:t> </a:t>
            </a:r>
            <a:r>
              <a:rPr dirty="0"/>
              <a:t>&amp;</a:t>
            </a:r>
            <a:r>
              <a:rPr dirty="0" spc="-105"/>
              <a:t> </a:t>
            </a:r>
            <a:r>
              <a:rPr dirty="0" spc="-10"/>
              <a:t>Discussion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3891" y="1707261"/>
            <a:ext cx="10566400" cy="5070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successfully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structure.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modeled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vertices,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edges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between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stations.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efficiently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connections.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000"/>
              </a:lnSpc>
              <a:spcBef>
                <a:spcPts val="9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BFS/DFS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traversal,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reachable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given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source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were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identified successfully.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provided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clear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representation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connectivity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within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discovery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navigation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became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easier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through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traversal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techniques.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graph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structure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supported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analysis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reachability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network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dirty="0" sz="2200" spc="-10">
                <a:latin typeface="Times New Roman"/>
                <a:cs typeface="Times New Roman"/>
              </a:rPr>
              <a:t>connectivity.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80" rIns="0" bIns="0" rtlCol="0" vert="horz">
            <a:spAutoFit/>
          </a:bodyPr>
          <a:lstStyle/>
          <a:p>
            <a:pPr marL="20351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035" y="1707261"/>
            <a:ext cx="6391275" cy="4681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Railway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Navigation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Planning</a:t>
            </a:r>
            <a:r>
              <a:rPr dirty="0" sz="2200" spc="-1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Applications.</a:t>
            </a:r>
            <a:endParaRPr sz="220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425450" algn="l"/>
              </a:tabLst>
            </a:pPr>
            <a:r>
              <a:rPr dirty="0" sz="2200">
                <a:latin typeface="Times New Roman"/>
                <a:cs typeface="Times New Roman"/>
              </a:rPr>
              <a:t>Public</a:t>
            </a:r>
            <a:r>
              <a:rPr dirty="0" sz="2200" spc="-10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Transportation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Networks.</a:t>
            </a:r>
            <a:endParaRPr sz="220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425450" algn="l"/>
              </a:tabLst>
            </a:pPr>
            <a:r>
              <a:rPr dirty="0" sz="2200">
                <a:latin typeface="Times New Roman"/>
                <a:cs typeface="Times New Roman"/>
              </a:rPr>
              <a:t>GPS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Mapping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Systems.</a:t>
            </a:r>
            <a:endParaRPr sz="2200">
              <a:latin typeface="Times New Roman"/>
              <a:cs typeface="Times New Roman"/>
            </a:endParaRPr>
          </a:p>
          <a:p>
            <a:pPr marL="410209" indent="-39751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410209" algn="l"/>
              </a:tabLst>
            </a:pPr>
            <a:r>
              <a:rPr dirty="0" sz="2200">
                <a:latin typeface="Times New Roman"/>
                <a:cs typeface="Times New Roman"/>
              </a:rPr>
              <a:t>Airline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Systems.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Road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Traffic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Network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Analysis.</a:t>
            </a:r>
            <a:endParaRPr sz="220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425450" algn="l"/>
              </a:tabLst>
            </a:pPr>
            <a:r>
              <a:rPr dirty="0" sz="2200">
                <a:latin typeface="Times New Roman"/>
                <a:cs typeface="Times New Roman"/>
              </a:rPr>
              <a:t>Logistics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Supply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Chain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Transportation.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Smart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City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Transportation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Solutions.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80" rIns="0" bIns="0" rtlCol="0" vert="horz">
            <a:spAutoFit/>
          </a:bodyPr>
          <a:lstStyle/>
          <a:p>
            <a:pPr marL="3338195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dirty="0" spc="-19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5843" y="1539011"/>
            <a:ext cx="9083040" cy="404939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Implement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shortest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path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algorithms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fastest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between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stations.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Integrate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real-</a:t>
            </a:r>
            <a:r>
              <a:rPr dirty="0" sz="2200">
                <a:latin typeface="Times New Roman"/>
                <a:cs typeface="Times New Roman"/>
              </a:rPr>
              <a:t>time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train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schedules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arrival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information.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Develop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mobile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application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passenger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navigation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planning.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Add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fare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calculation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travel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distance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stations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covered.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multi-</a:t>
            </a:r>
            <a:r>
              <a:rPr dirty="0" sz="2200">
                <a:latin typeface="Times New Roman"/>
                <a:cs typeface="Times New Roman"/>
              </a:rPr>
              <a:t>city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metro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network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management.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 spc="-10">
                <a:latin typeface="Times New Roman"/>
                <a:cs typeface="Times New Roman"/>
              </a:rPr>
              <a:t>Incorporate</a:t>
            </a:r>
            <a:r>
              <a:rPr dirty="0" sz="2200" spc="-1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AI-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recommendations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passengers.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Enable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real-</a:t>
            </a:r>
            <a:r>
              <a:rPr dirty="0" sz="2200">
                <a:latin typeface="Times New Roman"/>
                <a:cs typeface="Times New Roman"/>
              </a:rPr>
              <a:t>time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traffic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congestion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monitoring.</a:t>
            </a: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200">
                <a:latin typeface="Times New Roman"/>
                <a:cs typeface="Times New Roman"/>
              </a:rPr>
              <a:t>Integrate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GPS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location-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services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live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tracking.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680" rIns="0" bIns="0" rtlCol="0" vert="horz">
            <a:spAutoFit/>
          </a:bodyPr>
          <a:lstStyle/>
          <a:p>
            <a:pPr marL="358711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metro</a:t>
            </a:r>
            <a:r>
              <a:rPr dirty="0" spc="-25"/>
              <a:t> </a:t>
            </a:r>
            <a:r>
              <a:rPr dirty="0"/>
              <a:t>rail</a:t>
            </a:r>
            <a:r>
              <a:rPr dirty="0" spc="-40"/>
              <a:t> </a:t>
            </a:r>
            <a:r>
              <a:rPr dirty="0"/>
              <a:t>network</a:t>
            </a:r>
            <a:r>
              <a:rPr dirty="0" spc="-50"/>
              <a:t> </a:t>
            </a:r>
            <a:r>
              <a:rPr dirty="0"/>
              <a:t>was</a:t>
            </a:r>
            <a:r>
              <a:rPr dirty="0" spc="-50"/>
              <a:t> </a:t>
            </a:r>
            <a:r>
              <a:rPr dirty="0"/>
              <a:t>successfully</a:t>
            </a:r>
            <a:r>
              <a:rPr dirty="0" spc="-45"/>
              <a:t> </a:t>
            </a:r>
            <a:r>
              <a:rPr dirty="0"/>
              <a:t>represented</a:t>
            </a:r>
            <a:r>
              <a:rPr dirty="0" spc="-50"/>
              <a:t> </a:t>
            </a:r>
            <a:r>
              <a:rPr dirty="0"/>
              <a:t>using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Graph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55"/>
              <a:t> </a:t>
            </a:r>
            <a:r>
              <a:rPr dirty="0" spc="-10"/>
              <a:t>structure.</a:t>
            </a: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Graphs</a:t>
            </a:r>
            <a:r>
              <a:rPr dirty="0" spc="-60"/>
              <a:t> </a:t>
            </a:r>
            <a:r>
              <a:rPr dirty="0"/>
              <a:t>effectively</a:t>
            </a:r>
            <a:r>
              <a:rPr dirty="0" spc="-40"/>
              <a:t> </a:t>
            </a:r>
            <a:r>
              <a:rPr dirty="0"/>
              <a:t>model</a:t>
            </a:r>
            <a:r>
              <a:rPr dirty="0" spc="-50"/>
              <a:t> </a:t>
            </a:r>
            <a:r>
              <a:rPr dirty="0"/>
              <a:t>stations</a:t>
            </a:r>
            <a:r>
              <a:rPr dirty="0" spc="-65"/>
              <a:t> </a:t>
            </a:r>
            <a:r>
              <a:rPr dirty="0"/>
              <a:t>as</a:t>
            </a:r>
            <a:r>
              <a:rPr dirty="0" spc="-60"/>
              <a:t> </a:t>
            </a:r>
            <a:r>
              <a:rPr dirty="0"/>
              <a:t>vertices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routes</a:t>
            </a:r>
            <a:r>
              <a:rPr dirty="0" spc="-55"/>
              <a:t> </a:t>
            </a:r>
            <a:r>
              <a:rPr dirty="0"/>
              <a:t>as</a:t>
            </a:r>
            <a:r>
              <a:rPr dirty="0" spc="-65"/>
              <a:t> </a:t>
            </a:r>
            <a:r>
              <a:rPr dirty="0" spc="-10"/>
              <a:t>edges.</a:t>
            </a: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system</a:t>
            </a:r>
            <a:r>
              <a:rPr dirty="0" spc="-80"/>
              <a:t> </a:t>
            </a:r>
            <a:r>
              <a:rPr dirty="0"/>
              <a:t>efficiently</a:t>
            </a:r>
            <a:r>
              <a:rPr dirty="0" spc="-40"/>
              <a:t> </a:t>
            </a:r>
            <a:r>
              <a:rPr dirty="0"/>
              <a:t>determined</a:t>
            </a:r>
            <a:r>
              <a:rPr dirty="0" spc="-25"/>
              <a:t> </a:t>
            </a:r>
            <a:r>
              <a:rPr dirty="0"/>
              <a:t>reachable</a:t>
            </a:r>
            <a:r>
              <a:rPr dirty="0" spc="-45"/>
              <a:t> </a:t>
            </a:r>
            <a:r>
              <a:rPr dirty="0"/>
              <a:t>stations</a:t>
            </a:r>
            <a:r>
              <a:rPr dirty="0" spc="-65"/>
              <a:t> </a:t>
            </a:r>
            <a:r>
              <a:rPr dirty="0"/>
              <a:t>from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/>
              <a:t>given</a:t>
            </a:r>
            <a:r>
              <a:rPr dirty="0" spc="-75"/>
              <a:t> </a:t>
            </a:r>
            <a:r>
              <a:rPr dirty="0"/>
              <a:t>source</a:t>
            </a:r>
            <a:r>
              <a:rPr dirty="0" spc="-65"/>
              <a:t> </a:t>
            </a:r>
            <a:r>
              <a:rPr dirty="0" spc="-10"/>
              <a:t>station.</a:t>
            </a: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Graph</a:t>
            </a:r>
            <a:r>
              <a:rPr dirty="0" spc="-45"/>
              <a:t> </a:t>
            </a:r>
            <a:r>
              <a:rPr dirty="0"/>
              <a:t>traversal</a:t>
            </a:r>
            <a:r>
              <a:rPr dirty="0" spc="-40"/>
              <a:t> </a:t>
            </a:r>
            <a:r>
              <a:rPr dirty="0"/>
              <a:t>algorithms</a:t>
            </a:r>
            <a:r>
              <a:rPr dirty="0" spc="-45"/>
              <a:t> </a:t>
            </a:r>
            <a:r>
              <a:rPr dirty="0"/>
              <a:t>such</a:t>
            </a:r>
            <a:r>
              <a:rPr dirty="0" spc="-50"/>
              <a:t> </a:t>
            </a:r>
            <a:r>
              <a:rPr dirty="0"/>
              <a:t>as</a:t>
            </a:r>
            <a:r>
              <a:rPr dirty="0" spc="-55"/>
              <a:t> </a:t>
            </a:r>
            <a:r>
              <a:rPr dirty="0"/>
              <a:t>BFS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DFS</a:t>
            </a:r>
            <a:r>
              <a:rPr dirty="0" spc="-50"/>
              <a:t> </a:t>
            </a:r>
            <a:r>
              <a:rPr dirty="0"/>
              <a:t>helped</a:t>
            </a:r>
            <a:r>
              <a:rPr dirty="0" spc="-50"/>
              <a:t> </a:t>
            </a:r>
            <a:r>
              <a:rPr dirty="0"/>
              <a:t>analyze</a:t>
            </a:r>
            <a:r>
              <a:rPr dirty="0" spc="-70"/>
              <a:t> </a:t>
            </a:r>
            <a:r>
              <a:rPr dirty="0"/>
              <a:t>network</a:t>
            </a:r>
            <a:r>
              <a:rPr dirty="0" spc="-50"/>
              <a:t> </a:t>
            </a:r>
            <a:r>
              <a:rPr dirty="0" spc="-10"/>
              <a:t>connectivity.</a:t>
            </a: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implementation</a:t>
            </a:r>
            <a:r>
              <a:rPr dirty="0" spc="-40"/>
              <a:t> </a:t>
            </a:r>
            <a:r>
              <a:rPr dirty="0"/>
              <a:t>simplified</a:t>
            </a:r>
            <a:r>
              <a:rPr dirty="0" spc="-55"/>
              <a:t> </a:t>
            </a:r>
            <a:r>
              <a:rPr dirty="0"/>
              <a:t>route</a:t>
            </a:r>
            <a:r>
              <a:rPr dirty="0" spc="-85"/>
              <a:t> </a:t>
            </a:r>
            <a:r>
              <a:rPr dirty="0"/>
              <a:t>planning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station</a:t>
            </a:r>
            <a:r>
              <a:rPr dirty="0" spc="-80"/>
              <a:t> </a:t>
            </a:r>
            <a:r>
              <a:rPr dirty="0"/>
              <a:t>reachability</a:t>
            </a:r>
            <a:r>
              <a:rPr dirty="0" spc="-70"/>
              <a:t> </a:t>
            </a:r>
            <a:r>
              <a:rPr dirty="0" spc="-10"/>
              <a:t>analysis.</a:t>
            </a:r>
          </a:p>
          <a:p>
            <a:pPr marL="354965" indent="-342265">
              <a:lnSpc>
                <a:spcPct val="100000"/>
              </a:lnSpc>
              <a:spcBef>
                <a:spcPts val="22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graph</a:t>
            </a:r>
            <a:r>
              <a:rPr dirty="0" spc="-45"/>
              <a:t> </a:t>
            </a:r>
            <a:r>
              <a:rPr dirty="0"/>
              <a:t>structure</a:t>
            </a:r>
            <a:r>
              <a:rPr dirty="0" spc="-55"/>
              <a:t> </a:t>
            </a:r>
            <a:r>
              <a:rPr dirty="0"/>
              <a:t>proved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/>
              <a:t>scalable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suitable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/>
              <a:t>large</a:t>
            </a:r>
            <a:r>
              <a:rPr dirty="0" spc="-55"/>
              <a:t> </a:t>
            </a:r>
            <a:r>
              <a:rPr dirty="0"/>
              <a:t>metro</a:t>
            </a:r>
            <a:r>
              <a:rPr dirty="0" spc="-25"/>
              <a:t> </a:t>
            </a:r>
            <a:r>
              <a:rPr dirty="0" spc="-10"/>
              <a:t>networks.</a:t>
            </a: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Overall,</a:t>
            </a:r>
            <a:r>
              <a:rPr dirty="0" spc="-45"/>
              <a:t> </a:t>
            </a:r>
            <a:r>
              <a:rPr dirty="0"/>
              <a:t>graphs</a:t>
            </a:r>
            <a:r>
              <a:rPr dirty="0" spc="-65"/>
              <a:t> </a:t>
            </a:r>
            <a:r>
              <a:rPr dirty="0"/>
              <a:t>provide</a:t>
            </a:r>
            <a:r>
              <a:rPr dirty="0" spc="-70"/>
              <a:t> </a:t>
            </a:r>
            <a:r>
              <a:rPr dirty="0"/>
              <a:t>an</a:t>
            </a:r>
            <a:r>
              <a:rPr dirty="0" spc="-60"/>
              <a:t> </a:t>
            </a:r>
            <a:r>
              <a:rPr dirty="0"/>
              <a:t>efficient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reliable</a:t>
            </a:r>
            <a:r>
              <a:rPr dirty="0" spc="-45"/>
              <a:t> </a:t>
            </a:r>
            <a:r>
              <a:rPr dirty="0"/>
              <a:t>solution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metro</a:t>
            </a:r>
            <a:r>
              <a:rPr dirty="0" spc="-30"/>
              <a:t> </a:t>
            </a:r>
            <a:r>
              <a:rPr dirty="0"/>
              <a:t>rail</a:t>
            </a:r>
            <a:r>
              <a:rPr dirty="0" spc="-50"/>
              <a:t> </a:t>
            </a:r>
            <a:r>
              <a:rPr dirty="0"/>
              <a:t>network</a:t>
            </a:r>
            <a:r>
              <a:rPr dirty="0" spc="-55"/>
              <a:t> </a:t>
            </a:r>
            <a:r>
              <a:rPr dirty="0" spc="-10"/>
              <a:t>management</a:t>
            </a: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dirty="0"/>
              <a:t>and</a:t>
            </a:r>
            <a:r>
              <a:rPr dirty="0" spc="-70"/>
              <a:t> </a:t>
            </a:r>
            <a:r>
              <a:rPr dirty="0"/>
              <a:t>navigation</a:t>
            </a:r>
            <a:r>
              <a:rPr dirty="0" spc="-65"/>
              <a:t> </a:t>
            </a:r>
            <a:r>
              <a:rPr dirty="0" spc="-10"/>
              <a:t>systems.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sankar</dc:creator>
  <dc:title>Capstone Project Title</dc:title>
  <dcterms:created xsi:type="dcterms:W3CDTF">2026-06-05T07:32:11Z</dcterms:created>
  <dcterms:modified xsi:type="dcterms:W3CDTF">2026-06-05T07:32:11Z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2026-06-05T00:00:00Z</vt:filetime>
  </property>
  <property fmtid="{D5CDD505-2E9C-101B-9397-08002B2CF9AE}" pid="5" name="Producer">
    <vt:lpwstr>Microsoft® PowerPoint® 2021</vt:lpwstr>
  </property>
</Properties>
</file>