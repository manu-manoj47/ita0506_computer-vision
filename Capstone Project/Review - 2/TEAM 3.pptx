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98" r:id="rId1"/>
  </p:sldMasterIdLst>
  <p:sldIdLst>
    <p:sldId id="256" r:id="rId2"/>
    <p:sldId id="268" r:id="rId3"/>
    <p:sldId id="257" r:id="rId4"/>
    <p:sldId id="259" r:id="rId5"/>
    <p:sldId id="272" r:id="rId6"/>
    <p:sldId id="267" r:id="rId7"/>
    <p:sldId id="258" r:id="rId8"/>
    <p:sldId id="269" r:id="rId9"/>
    <p:sldId id="266" r:id="rId10"/>
    <p:sldId id="273" r:id="rId11"/>
    <p:sldId id="274" r:id="rId12"/>
    <p:sldId id="275" r:id="rId13"/>
    <p:sldId id="276" r:id="rId14"/>
    <p:sldId id="277" r:id="rId15"/>
    <p:sldId id="278" r:id="rId16"/>
    <p:sldId id="271" r:id="rId17"/>
    <p:sldId id="270" r:id="rId18"/>
    <p:sldId id="279" r:id="rId1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C6BD-5022-F38C-A880-3DBBF292E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0D536-34E1-A5AD-6F26-92EE449BC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82C22-E51D-BEB7-45C2-12C31D50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0983E-CD86-CDC0-8ECB-4A56EC09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B47A8-2ECA-3FD9-F7BA-B41E791A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42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9BD9-9EA6-A66E-0F60-0EF322DE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3ADC8-C70E-08BD-0DD3-2C2785A3A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595B-DE06-B109-C1AB-58ACCBAD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FB303-8E0A-12B1-4880-51482C82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82C80-025D-73F5-BC63-B90A8974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157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51E63-46AE-322B-2124-A0041423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3D975-5086-3CDD-4568-C2A52E56E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EF55F-C228-320A-1037-8DA048BA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F9500-F59E-F346-A22C-4216B11CD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9EF9C-93A3-6979-C3ED-278460FB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8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2324-AC9B-B3AF-9155-67C98BD64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863D-B1BA-340A-E809-97AC97282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A0DCC-2078-75A2-9314-FCEC97A3A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24BEA-EE5C-656B-B614-6C7AA84A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40C36-3F30-A624-6752-FF50C1FB9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0BB25-E7CE-62A6-51F3-9290FFF7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790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8B50-D0F1-7B35-9CBB-A75CBF8A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E5F2E-BA00-7110-F578-FBA6C1C31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9C088-5039-3E20-7FEA-C7AE97B4D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09E0D-3BBE-2CA7-84F0-5EB1B1BAE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B279F-0EC8-F9A3-41DD-7D6FCEE16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70F824-3E3B-71AE-0BE7-707BD60B2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140268-C431-2706-A65C-69444C28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E65CB-8A48-3B8C-652E-581DA036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440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32AF-97A3-1122-166F-1F225936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4D210-EE02-76BB-BDC6-E4C49A25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7B23D-4F8D-CFEC-E828-12258D6D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9BED1-2464-77E0-5F8E-8F173E3A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2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FD29D-13C9-9B1C-A0BD-55F15F66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8150E-97E6-8207-3A61-BFED52A3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285CC-E599-E41E-7B1C-806FB233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30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456D-5276-492F-5410-6AB96323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66979-FA86-6EB6-B3B4-6CCDF4FCA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B1B33-E638-0F2A-18AA-34AFFAF7A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17B84-D085-CBF4-BCD3-40E1FEEF2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9F2CC-939B-20A1-2A95-03A47ED6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38422-EEF3-0501-4CCA-EFAF35DE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103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86D5-06C9-BCFB-40E4-2C6ABD129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5BF46F-3BF4-BB34-ADE7-FFA51534DA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909C0-F1A6-2CA0-50A2-CAE3F4AA9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7F0BC-92B9-4C30-E74D-86D1F107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577-4BAB-3BAC-F7AF-E0082A70B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37421-89B9-07E2-852A-0818B7F8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64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8E62-84C4-AF83-EF1A-DFA4076F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D23D6-7459-082C-2CC8-24AADEA9F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4EF57-13A3-6834-E141-DA64EC60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3B7E9-BB1D-E88C-4053-43FCE4737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49CE5-E5B0-8596-F671-BF392BBF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55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29E63-AC7B-CFF1-3699-B0E7D2C4A8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04CFA-7CAE-C33E-5B3A-1FE4898BB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0786-E37F-9E55-3B02-D643A11D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633D-54C1-F33D-3DEA-E59E41FBE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CDB17-232D-DDF2-84B2-3B15B575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216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65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69A43-32F4-8E25-8401-801DDE95F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B96BA-35AC-1FD6-BCE0-83F6ED4F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A963B-A9E7-6FBC-29DD-7FF62E017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7957E-5A63-BA0A-2F8E-4DFE28CB3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16B3D-8223-7CA5-7906-93FC67696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67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2991928"/>
            <a:ext cx="10134600" cy="112146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AERIAL CROP MONITORING AND YIELD PREDICTION USING AERIAL IMAGERY</a:t>
            </a:r>
            <a:endParaRPr lang="en-US" sz="36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5207" y="4294241"/>
            <a:ext cx="4857135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/>
            <a:r>
              <a:rPr lang="en-IN"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12700" marR="5080"/>
            <a:r>
              <a:rPr lang="en-IN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Manoj Kumar(192472395)</a:t>
            </a:r>
          </a:p>
          <a:p>
            <a:pPr marL="12700" marR="508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P.V D NAGENDRA REDDY(192472399)</a:t>
            </a:r>
          </a:p>
          <a:p>
            <a:pPr marL="12700" marR="508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pranay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km(192321055)</a:t>
            </a:r>
          </a:p>
          <a:p>
            <a:pPr marL="12700" marR="508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Lenin K(192321050)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8" y="191650"/>
            <a:ext cx="1103583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191650"/>
            <a:ext cx="1520063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FEC1F-4FDC-896A-7E60-D3C9ADE9FEBB}"/>
              </a:ext>
            </a:extLst>
          </p:cNvPr>
          <p:cNvSpPr txBox="1"/>
          <p:nvPr/>
        </p:nvSpPr>
        <p:spPr>
          <a:xfrm>
            <a:off x="3733800" y="533401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1C718-4829-8F27-458D-4B977F970D2F}"/>
              </a:ext>
            </a:extLst>
          </p:cNvPr>
          <p:cNvSpPr txBox="1"/>
          <p:nvPr/>
        </p:nvSpPr>
        <p:spPr>
          <a:xfrm>
            <a:off x="3505200" y="1219206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DB48D-063D-C0EF-80A4-1117F7225FB0}"/>
              </a:ext>
            </a:extLst>
          </p:cNvPr>
          <p:cNvSpPr txBox="1"/>
          <p:nvPr/>
        </p:nvSpPr>
        <p:spPr>
          <a:xfrm>
            <a:off x="3352800" y="1821289"/>
            <a:ext cx="556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 Project Review-1</a:t>
            </a:r>
            <a:endParaRPr lang="en-IN" sz="2800" b="1" spc="-1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ITA0506_Computer Vison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61F33-28B3-681D-2AE7-9CED905929EE}"/>
              </a:ext>
            </a:extLst>
          </p:cNvPr>
          <p:cNvSpPr txBox="1"/>
          <p:nvPr/>
        </p:nvSpPr>
        <p:spPr>
          <a:xfrm>
            <a:off x="1324249" y="4746934"/>
            <a:ext cx="34583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Dr.Sasi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Rekha,Prof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/CSE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Jeni Gracia, AP /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2830-9E69-EB2D-16EA-D4B99D62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5E6B91-94CF-7732-30B8-C5587D5A44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68773" y="464917"/>
            <a:ext cx="2853691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b="1" spc="-1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2783831-803A-7C3B-94E7-C0F35CD4BA72}"/>
              </a:ext>
            </a:extLst>
          </p:cNvPr>
          <p:cNvSpPr txBox="1"/>
          <p:nvPr/>
        </p:nvSpPr>
        <p:spPr>
          <a:xfrm>
            <a:off x="76200" y="1447802"/>
            <a:ext cx="11879325" cy="585108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– Overall Design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Project Modules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B5A9297-0DB2-DA06-D006-0F9C80AD11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8" y="191650"/>
            <a:ext cx="1103583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C8EA570-DF79-7196-07C8-4E79ECEDF2C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191650"/>
            <a:ext cx="1520063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7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7" y="461900"/>
            <a:ext cx="3560063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1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1447801"/>
            <a:ext cx="11879325" cy="5204757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requires continuous monitoring to maintain healthy crop growth. </a:t>
            </a:r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crop inspection is manual, time-consuming and difficult for large agricultural fields. </a:t>
            </a:r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stress and diseases may develop between manual inspections. </a:t>
            </a:r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Aerial images provide a large-area view of crop conditions. </a:t>
            </a:r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AI can automatically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crop images. </a:t>
            </a:r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focuses on daily monitoring of crop health and early identification of abnormal changes.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8" y="191650"/>
            <a:ext cx="1103583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191650"/>
            <a:ext cx="1520063" cy="1342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030" y="495757"/>
            <a:ext cx="7152005" cy="622863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8" y="191650"/>
            <a:ext cx="1103583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191650"/>
            <a:ext cx="1520063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7F70EA-9AD2-3E35-BB62-F8376E4FE5F2}"/>
              </a:ext>
            </a:extLst>
          </p:cNvPr>
          <p:cNvSpPr txBox="1"/>
          <p:nvPr/>
        </p:nvSpPr>
        <p:spPr>
          <a:xfrm>
            <a:off x="228600" y="1654414"/>
            <a:ext cx="1165860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cannot manually monitor every part of a large field every day. 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crop stress and disease symptoms may be missed. 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aerial image gives only a snapshot of crop condition. 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continuous comparison between today's crop condition and previous days. 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need an automated system that can identify health deterioration and generate alerts.</a:t>
            </a:r>
          </a:p>
          <a:p>
            <a:pPr marL="34289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propose a daily live crop-health monitoring system using aerial imagery, computer vision and AI.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A1DA-9CA8-86DD-B968-A3BD4F30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6"/>
            <a:ext cx="11277600" cy="46166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9EF932A9-04A9-BDCA-E96C-3C8C504A01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8" y="191650"/>
            <a:ext cx="1103583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AA7610AA-F952-1E23-8130-782483213FA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191650"/>
            <a:ext cx="1520063" cy="134289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D9E425F-5DE6-F424-582A-812A25774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351022"/>
              </p:ext>
            </p:extLst>
          </p:nvPr>
        </p:nvGraphicFramePr>
        <p:xfrm>
          <a:off x="688342" y="1752601"/>
          <a:ext cx="10665461" cy="389226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332731">
                  <a:extLst>
                    <a:ext uri="{9D8B030D-6E8A-4147-A177-3AD203B41FA5}">
                      <a16:colId xmlns:a16="http://schemas.microsoft.com/office/drawing/2014/main" val="1010582259"/>
                    </a:ext>
                  </a:extLst>
                </a:gridCol>
                <a:gridCol w="5332731">
                  <a:extLst>
                    <a:ext uri="{9D8B030D-6E8A-4147-A177-3AD203B41FA5}">
                      <a16:colId xmlns:a16="http://schemas.microsoft.com/office/drawing/2014/main" val="1293144583"/>
                    </a:ext>
                  </a:extLst>
                </a:gridCol>
              </a:tblGrid>
              <a:tr h="354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marL="49521" marR="49521" marT="24761" marB="24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 marL="49521" marR="49521" marT="24761" marB="24761" anchor="ctr"/>
                </a:tc>
                <a:extLst>
                  <a:ext uri="{0D108BD9-81ED-4DB2-BD59-A6C34878D82A}">
                    <a16:rowId xmlns:a16="http://schemas.microsoft.com/office/drawing/2014/main" val="3740136958"/>
                  </a:ext>
                </a:extLst>
              </a:tr>
              <a:tr h="354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inspection</a:t>
                      </a:r>
                    </a:p>
                  </a:txBody>
                  <a:tcPr marL="49521" marR="49521" marT="24761" marB="24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monitoring</a:t>
                      </a:r>
                    </a:p>
                  </a:txBody>
                  <a:tcPr marL="49521" marR="49521" marT="24761" marB="24761" anchor="ctr"/>
                </a:tc>
                <a:extLst>
                  <a:ext uri="{0D108BD9-81ED-4DB2-BD59-A6C34878D82A}">
                    <a16:rowId xmlns:a16="http://schemas.microsoft.com/office/drawing/2014/main" val="1660542902"/>
                  </a:ext>
                </a:extLst>
              </a:tr>
              <a:tr h="354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Occasional observation</a:t>
                      </a:r>
                    </a:p>
                  </a:txBody>
                  <a:tcPr marL="49521" marR="49521" marT="24761" marB="24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 monitoring</a:t>
                      </a:r>
                    </a:p>
                  </a:txBody>
                  <a:tcPr marL="49521" marR="49521" marT="24761" marB="24761" anchor="ctr"/>
                </a:tc>
                <a:extLst>
                  <a:ext uri="{0D108BD9-81ED-4DB2-BD59-A6C34878D82A}">
                    <a16:rowId xmlns:a16="http://schemas.microsoft.com/office/drawing/2014/main" val="4294678898"/>
                  </a:ext>
                </a:extLst>
              </a:tr>
              <a:tr h="354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human effort</a:t>
                      </a:r>
                    </a:p>
                  </a:txBody>
                  <a:tcPr marL="49521" marR="49521" marT="24761" marB="24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 based</a:t>
                      </a:r>
                    </a:p>
                  </a:txBody>
                  <a:tcPr marL="49521" marR="49521" marT="24761" marB="24761" anchor="ctr"/>
                </a:tc>
                <a:extLst>
                  <a:ext uri="{0D108BD9-81ED-4DB2-BD59-A6C34878D82A}">
                    <a16:rowId xmlns:a16="http://schemas.microsoft.com/office/drawing/2014/main" val="3505178524"/>
                  </a:ext>
                </a:extLst>
              </a:tr>
              <a:tr h="58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monitor large fields</a:t>
                      </a:r>
                    </a:p>
                  </a:txBody>
                  <a:tcPr marL="49521" marR="49521" marT="24761" marB="24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Large-area aerial monitoring</a:t>
                      </a:r>
                    </a:p>
                  </a:txBody>
                  <a:tcPr marL="49521" marR="49521" marT="24761" marB="24761" anchor="ctr"/>
                </a:tc>
                <a:extLst>
                  <a:ext uri="{0D108BD9-81ED-4DB2-BD59-A6C34878D82A}">
                    <a16:rowId xmlns:a16="http://schemas.microsoft.com/office/drawing/2014/main" val="4246552848"/>
                  </a:ext>
                </a:extLst>
              </a:tr>
              <a:tr h="58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detected after visible symptoms</a:t>
                      </a:r>
                    </a:p>
                  </a:txBody>
                  <a:tcPr marL="49521" marR="49521" marT="24761" marB="24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stress/disease indication</a:t>
                      </a:r>
                    </a:p>
                  </a:txBody>
                  <a:tcPr marL="49521" marR="49521" marT="24761" marB="24761" anchor="ctr"/>
                </a:tc>
                <a:extLst>
                  <a:ext uri="{0D108BD9-81ED-4DB2-BD59-A6C34878D82A}">
                    <a16:rowId xmlns:a16="http://schemas.microsoft.com/office/drawing/2014/main" val="2437104559"/>
                  </a:ext>
                </a:extLst>
              </a:tr>
              <a:tr h="588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continuous health history</a:t>
                      </a:r>
                    </a:p>
                  </a:txBody>
                  <a:tcPr marL="49521" marR="49521" marT="24761" marB="24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Day-wise health history</a:t>
                      </a:r>
                    </a:p>
                  </a:txBody>
                  <a:tcPr marL="49521" marR="49521" marT="24761" marB="24761" anchor="ctr"/>
                </a:tc>
                <a:extLst>
                  <a:ext uri="{0D108BD9-81ED-4DB2-BD59-A6C34878D82A}">
                    <a16:rowId xmlns:a16="http://schemas.microsoft.com/office/drawing/2014/main" val="4179605927"/>
                  </a:ext>
                </a:extLst>
              </a:tr>
              <a:tr h="354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automatic alerts</a:t>
                      </a:r>
                    </a:p>
                  </a:txBody>
                  <a:tcPr marL="49521" marR="49521" marT="24761" marB="24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alerts</a:t>
                      </a:r>
                    </a:p>
                  </a:txBody>
                  <a:tcPr marL="49521" marR="49521" marT="24761" marB="24761" anchor="ctr"/>
                </a:tc>
                <a:extLst>
                  <a:ext uri="{0D108BD9-81ED-4DB2-BD59-A6C34878D82A}">
                    <a16:rowId xmlns:a16="http://schemas.microsoft.com/office/drawing/2014/main" val="8030371"/>
                  </a:ext>
                </a:extLst>
              </a:tr>
              <a:tr h="354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visualization</a:t>
                      </a:r>
                    </a:p>
                  </a:txBody>
                  <a:tcPr marL="49521" marR="49521" marT="24761" marB="247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dashboard</a:t>
                      </a:r>
                    </a:p>
                  </a:txBody>
                  <a:tcPr marL="49521" marR="49521" marT="24761" marB="24761" anchor="ctr"/>
                </a:tc>
                <a:extLst>
                  <a:ext uri="{0D108BD9-81ED-4DB2-BD59-A6C34878D82A}">
                    <a16:rowId xmlns:a16="http://schemas.microsoft.com/office/drawing/2014/main" val="2069092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168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708A-F54B-24DF-02E6-51D0804D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28AC20-0EAF-8682-E9C1-F6F3C2EF6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8030" y="495757"/>
            <a:ext cx="7152005" cy="622863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D69D200-A1BC-C895-CC18-C0D25299A8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8" y="191650"/>
            <a:ext cx="1103583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45F94CC-D047-A64D-2A8D-EA36F570A4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191650"/>
            <a:ext cx="1520063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C5EE42-582E-578B-6037-28899727CF4A}"/>
              </a:ext>
            </a:extLst>
          </p:cNvPr>
          <p:cNvSpPr txBox="1"/>
          <p:nvPr/>
        </p:nvSpPr>
        <p:spPr>
          <a:xfrm>
            <a:off x="152406" y="1981200"/>
            <a:ext cx="11881865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high-quality aerial images of agricultural fields.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crop health issues and diseases using image processing and deep learning.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crop yield using machine learning algorithms.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interactive dashboard for visualization, monitoring, and decision support.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agricultural productivity through timely and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4106558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495757"/>
            <a:ext cx="6934200" cy="622863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algn="ctr"/>
            <a:r>
              <a:rPr lang="en-IN" b="1" dirty="0"/>
              <a:t>Literature Review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6" y="6"/>
            <a:ext cx="1103583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11" y="71188"/>
            <a:ext cx="1520063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E579CB-2C6F-FBE0-47B6-65F5F8C8C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830112"/>
              </p:ext>
            </p:extLst>
          </p:nvPr>
        </p:nvGraphicFramePr>
        <p:xfrm>
          <a:off x="157740" y="1352731"/>
          <a:ext cx="11577066" cy="5181601"/>
        </p:xfrm>
        <a:graphic>
          <a:graphicData uri="http://schemas.openxmlformats.org/drawingml/2006/table">
            <a:tbl>
              <a:tblPr/>
              <a:tblGrid>
                <a:gridCol w="554165">
                  <a:extLst>
                    <a:ext uri="{9D8B030D-6E8A-4147-A177-3AD203B41FA5}">
                      <a16:colId xmlns:a16="http://schemas.microsoft.com/office/drawing/2014/main" val="407785596"/>
                    </a:ext>
                  </a:extLst>
                </a:gridCol>
                <a:gridCol w="2429736">
                  <a:extLst>
                    <a:ext uri="{9D8B030D-6E8A-4147-A177-3AD203B41FA5}">
                      <a16:colId xmlns:a16="http://schemas.microsoft.com/office/drawing/2014/main" val="2451765626"/>
                    </a:ext>
                  </a:extLst>
                </a:gridCol>
                <a:gridCol w="3738055">
                  <a:extLst>
                    <a:ext uri="{9D8B030D-6E8A-4147-A177-3AD203B41FA5}">
                      <a16:colId xmlns:a16="http://schemas.microsoft.com/office/drawing/2014/main" val="3175587849"/>
                    </a:ext>
                  </a:extLst>
                </a:gridCol>
                <a:gridCol w="2427555">
                  <a:extLst>
                    <a:ext uri="{9D8B030D-6E8A-4147-A177-3AD203B41FA5}">
                      <a16:colId xmlns:a16="http://schemas.microsoft.com/office/drawing/2014/main" val="1702919978"/>
                    </a:ext>
                  </a:extLst>
                </a:gridCol>
                <a:gridCol w="2427555">
                  <a:extLst>
                    <a:ext uri="{9D8B030D-6E8A-4147-A177-3AD203B41FA5}">
                      <a16:colId xmlns:a16="http://schemas.microsoft.com/office/drawing/2014/main" val="2733904890"/>
                    </a:ext>
                  </a:extLst>
                </a:gridCol>
              </a:tblGrid>
              <a:tr h="195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332920"/>
                  </a:ext>
                </a:extLst>
              </a:tr>
              <a:tr h="5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Zhang et al., 2025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Crop Disease Detection Using UAV Aerial Images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UAV Imagery, CNN, Deep Learning, OpenCV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decreases under varying lighting conditions.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87125"/>
                  </a:ext>
                </a:extLst>
              </a:tr>
              <a:tr h="525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Maria Gonzalez et al., 2025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Crop Health Monitoring Using Multispectral Aerial Imagery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Multispectral Imaging, AI, TensorFlow, GIS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expensive multispectral cameras.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428052"/>
                  </a:ext>
                </a:extLst>
              </a:tr>
              <a:tr h="5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Rahul Sharma et al., 2026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Framework for Crop Yield Prediction Using Aerial Images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Learning, Random Forest, Python, Drone Imaging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accuracy depends on the quality of training data.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688788"/>
                  </a:ext>
                </a:extLst>
              </a:tr>
              <a:tr h="69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Hassan et al., 2025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Agriculture Using Deep Learning and Remote Sensing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Remote Sensing, Image Processing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validation across different crop varieties.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809608"/>
                  </a:ext>
                </a:extLst>
              </a:tr>
              <a:tr h="69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Emily Johnson et al., 2026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Crop Monitoring and Yield Estimation Using Computer Vision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Vision, CNN, OpenCV, TensorFlow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requirements for real-time processing.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936134"/>
                  </a:ext>
                </a:extLst>
              </a:tr>
              <a:tr h="613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Ramesh et al., 2025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Health Assessment Using Aerial Image Analysis and Deep Learning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Deep Learning, Image Segmentation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accuracy in cloudy weather conditions.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178844"/>
                  </a:ext>
                </a:extLst>
              </a:tr>
              <a:tr h="69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Yuki Tanaka et al., 2026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Agriculture: Aerial Image-Based Crop Monitoring with AI Analytics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Intelligence, GIS, CNN, IoT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datasets increase processing time.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821731"/>
                  </a:ext>
                </a:extLst>
              </a:tr>
              <a:tr h="69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Priya Nair et al., 2025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Crop Yield Prediction Using Deep Neural Networks and Aerial Imagery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Neural Networks, Python, TensorFlow, Image Processing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generalization to diverse geographical regions.</a:t>
                      </a:r>
                    </a:p>
                  </a:txBody>
                  <a:tcPr marL="10612" marR="10612" marT="5307" marB="5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1245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EBBF-6453-FFCF-5CD9-71687A8B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59011B-E7F0-510C-A999-1BA03EE210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8030" y="495757"/>
            <a:ext cx="7152005" cy="622863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767395E-00F2-4160-22B9-1C00FE62D0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8" y="191650"/>
            <a:ext cx="1103583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15DDBE1-8013-D2A7-517E-394DD009BA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191650"/>
            <a:ext cx="1520063" cy="1342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DD949C-DBDA-1A45-5A10-F6C9031F6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783" y="0"/>
            <a:ext cx="90144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51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6"/>
            <a:ext cx="1090448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49166"/>
            <a:ext cx="1520063" cy="134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C3E30F-32BE-03AA-C71C-162BCB5AC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49" y="228600"/>
            <a:ext cx="9118955" cy="6172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AC83-F7B2-93C1-3D98-C63B67C5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51399E9A-D948-4F14-EA44-1598EEABD0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6"/>
            <a:ext cx="1090448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9C91427-8643-AA02-841B-5FD581FEEA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49166"/>
            <a:ext cx="1520063" cy="13428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E3622F-93A3-896D-2282-2A33CA7B3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49" y="152400"/>
            <a:ext cx="9118955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67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0371-7057-D20C-56A5-05B99F6D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0328EC6F-23D2-E589-4199-8DA117040F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6"/>
            <a:ext cx="1090448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D5B1406-1638-D5C2-F295-9FC6E6485A7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49166"/>
            <a:ext cx="1520063" cy="13428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B0987F-7378-2CBE-E6A7-FA10CB6D4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49" y="304800"/>
            <a:ext cx="911895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01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4D24-21FB-0406-60AA-0CC33788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65A6031D-9903-D062-0846-2397CFE43F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6"/>
            <a:ext cx="1090448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0370810-A3FE-2C8D-1E78-BC8CA55388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49166"/>
            <a:ext cx="1520063" cy="13428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705902-5BD4-448C-6C2B-22258F676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49" y="152400"/>
            <a:ext cx="9118955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5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3FDB-6E04-0019-8FD2-1224397E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8263C366-7F2F-69DC-2668-B117944423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6"/>
            <a:ext cx="1090448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B695AA4-92A8-8375-975C-5D0FEACD9D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49166"/>
            <a:ext cx="1520063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6DFA7C-840A-95C7-101E-1FDCF3A4C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00207"/>
            <a:ext cx="6553200" cy="5057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8B69B2-46DC-8BB5-D32E-37AECB41AD15}"/>
              </a:ext>
            </a:extLst>
          </p:cNvPr>
          <p:cNvSpPr txBox="1"/>
          <p:nvPr/>
        </p:nvSpPr>
        <p:spPr>
          <a:xfrm>
            <a:off x="4572001" y="533400"/>
            <a:ext cx="28135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438B09-074A-30AE-8C07-43481DBCD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695" y="1570709"/>
            <a:ext cx="5474111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4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007E-A8D6-06BC-4657-6C3985A0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B0A1EB7-0F60-D5FB-5349-2DEC0941C9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6"/>
            <a:ext cx="1090448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00F6A1E-A8C8-E33F-82F5-D1D9B3B70F8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49166"/>
            <a:ext cx="1520063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0BF273-5993-699B-60C5-CB447E4CA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8806"/>
            <a:ext cx="6248400" cy="4419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E70260-F076-9C0E-6EDE-26A44A661D48}"/>
              </a:ext>
            </a:extLst>
          </p:cNvPr>
          <p:cNvSpPr txBox="1"/>
          <p:nvPr/>
        </p:nvSpPr>
        <p:spPr>
          <a:xfrm>
            <a:off x="5029201" y="685800"/>
            <a:ext cx="17876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F4962A-3C74-8024-D7EB-DFA682506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154" y="1828806"/>
            <a:ext cx="5852652" cy="441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8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914D-5C78-7FE8-3944-5709E12D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80884DDF-A942-F64F-8CC2-8A826E75F0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6"/>
            <a:ext cx="1090448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EF30378-25C1-DAF3-E669-5B63F82D79F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49166"/>
            <a:ext cx="1520063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2E9D91-5885-247D-1B0E-19EBF6269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7" y="1905001"/>
            <a:ext cx="6622215" cy="4210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0FBADE-38B3-B4AF-08E7-035260089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1" y="1746835"/>
            <a:ext cx="4251243" cy="436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1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E7382-D735-2C42-4DDE-DA2674E9D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0FFF-3F59-0656-21FC-78A92358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461906"/>
            <a:ext cx="8458200" cy="6155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E139-CE99-61A8-23C7-C27E3A281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6" y="1509941"/>
            <a:ext cx="11805665" cy="4919616"/>
          </a:xfrm>
        </p:spPr>
        <p:txBody>
          <a:bodyPr>
            <a:normAutofit lnSpcReduction="10000"/>
          </a:bodyPr>
          <a:lstStyle/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aerial imagery, computer vision, and artificial intelligence to improve precision agriculture.</a:t>
            </a:r>
          </a:p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efficient crop health monitoring, disease detection, and accurate yield prediction.</a:t>
            </a:r>
          </a:p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 and decision-support tools help farmers make informed agricultural decisions.</a:t>
            </a:r>
          </a:p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while increasing productivity and sustainability.</a:t>
            </a:r>
          </a:p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contributes to smarter, technology-driven farming and supports sustainable agricultural development.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8A8E582-C029-E6F0-0115-AF1653D862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6"/>
            <a:ext cx="1090448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294471A4-EF2A-BF00-92FE-FE449C0F541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49166"/>
            <a:ext cx="1520063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24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64D4-E797-9AFA-D1BB-C2B0CA72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461906"/>
            <a:ext cx="8458200" cy="61555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8E98A-A6DD-4861-F07E-40C5943F3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47" y="1509947"/>
            <a:ext cx="10815319" cy="3257623"/>
          </a:xfrm>
        </p:spPr>
        <p:txBody>
          <a:bodyPr>
            <a:normAutofit fontScale="85000" lnSpcReduction="10000"/>
          </a:bodyPr>
          <a:lstStyle/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multispectral and hyperspectral imagery for improved analysis.</a:t>
            </a:r>
          </a:p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real-time IoT sensor data (soil moisture, temperature, humidity).</a:t>
            </a:r>
          </a:p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farmers to access reports and alerts.</a:t>
            </a:r>
          </a:p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monitoring using live aerial image streams.</a:t>
            </a:r>
          </a:p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system to support multiple crop types and different geographical regions.</a:t>
            </a:r>
          </a:p>
          <a:p>
            <a:pPr marL="342891" indent="-34289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weather forecasting to improve yield prediction accuracy.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565C7A9-0022-623D-0D05-DD72DAE2C0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6"/>
            <a:ext cx="1090448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571ED3D-F01E-B9F5-CFE9-D920460AA3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9" y="49166"/>
            <a:ext cx="1520063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990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6,100+ Thank You Team Stock Photos, Pictures &amp; Royalty-Free ...">
            <a:extLst>
              <a:ext uri="{FF2B5EF4-FFF2-40B4-BE49-F238E27FC236}">
                <a16:creationId xmlns:a16="http://schemas.microsoft.com/office/drawing/2014/main" id="{D0C37284-9105-AE67-50DA-5A3A50E85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400" y="1143000"/>
            <a:ext cx="6553200" cy="502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36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231</TotalTime>
  <Words>770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AERIAL CROP MONITORING AND YIELD PREDICTION USING AERIAL IMAGERY</vt:lpstr>
      <vt:lpstr>Agenda</vt:lpstr>
      <vt:lpstr>Introduction</vt:lpstr>
      <vt:lpstr>Problem Statement</vt:lpstr>
      <vt:lpstr>Existing System vs Proposed System</vt:lpstr>
      <vt:lpstr>Objectives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Enhancements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kandi manojkumar</cp:lastModifiedBy>
  <cp:revision>8</cp:revision>
  <dcterms:created xsi:type="dcterms:W3CDTF">2025-03-19T13:35:36Z</dcterms:created>
  <dcterms:modified xsi:type="dcterms:W3CDTF">2026-08-20T05:26:03Z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2025-03-19T00:00:00Z</vt:filetime>
  </property>
</Properties>
</file>