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8" r:id="rId3"/>
    <p:sldId id="257" r:id="rId4"/>
    <p:sldId id="258" r:id="rId5"/>
    <p:sldId id="259" r:id="rId6"/>
    <p:sldId id="267" r:id="rId7"/>
    <p:sldId id="269" r:id="rId8"/>
    <p:sldId id="266" r:id="rId9"/>
    <p:sldId id="270" r:id="rId10"/>
    <p:sldId id="271" r:id="rId11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32349" y="461899"/>
            <a:ext cx="252730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509941"/>
            <a:ext cx="10815319" cy="1782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600" y="2991922"/>
            <a:ext cx="10134600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AERIAL CROP MONITORING AND YIELD PREDICTION USING AERIAL IMAGERY</a:t>
            </a:r>
            <a:endParaRPr lang="en-US" sz="3600" b="1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15200" y="4294240"/>
            <a:ext cx="4857135" cy="1551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lang="en-IN" sz="20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12700" marR="5080">
              <a:lnSpc>
                <a:spcPct val="100000"/>
              </a:lnSpc>
            </a:pPr>
            <a:r>
              <a:rPr lang="en-IN"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Manoj Kumar(192472395)</a:t>
            </a:r>
          </a:p>
          <a:p>
            <a:pPr marL="12700" marR="5080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P.V D NAGENDRA REDDY(192472399)</a:t>
            </a:r>
          </a:p>
          <a:p>
            <a:pPr marL="12700" marR="5080">
              <a:lnSpc>
                <a:spcPct val="100000"/>
              </a:lnSpc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pranay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km(192321055)</a:t>
            </a:r>
          </a:p>
          <a:p>
            <a:pPr marL="12700" marR="5080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Lenin K(192321050)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4FEC1F-4FDC-896A-7E60-D3C9ADE9FEBB}"/>
              </a:ext>
            </a:extLst>
          </p:cNvPr>
          <p:cNvSpPr txBox="1"/>
          <p:nvPr/>
        </p:nvSpPr>
        <p:spPr>
          <a:xfrm>
            <a:off x="3733800" y="533400"/>
            <a:ext cx="419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</a:t>
            </a:r>
            <a:r>
              <a:rPr lang="en-IN" sz="2800" b="1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21C718-4829-8F27-458D-4B977F970D2F}"/>
              </a:ext>
            </a:extLst>
          </p:cNvPr>
          <p:cNvSpPr txBox="1"/>
          <p:nvPr/>
        </p:nvSpPr>
        <p:spPr>
          <a:xfrm>
            <a:off x="3505200" y="1219200"/>
            <a:ext cx="518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SAVEETHA INSTITUTE OF MEDICAL AND TECHNICAL SCIENCES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CDB48D-063D-C0EF-80A4-1117F7225FB0}"/>
              </a:ext>
            </a:extLst>
          </p:cNvPr>
          <p:cNvSpPr txBox="1"/>
          <p:nvPr/>
        </p:nvSpPr>
        <p:spPr>
          <a:xfrm>
            <a:off x="3352800" y="1821289"/>
            <a:ext cx="5562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Capstone  Project Review-1</a:t>
            </a:r>
            <a:endParaRPr lang="en-IN" sz="28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ITA0506_Computer Vison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261F33-28B3-681D-2AE7-9CED905929EE}"/>
              </a:ext>
            </a:extLst>
          </p:cNvPr>
          <p:cNvSpPr txBox="1"/>
          <p:nvPr/>
        </p:nvSpPr>
        <p:spPr>
          <a:xfrm>
            <a:off x="1324248" y="4746927"/>
            <a:ext cx="345838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Director: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Dr.Sasi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Rekha,Prof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/CSE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Mrs.R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Jeni Gracia, AP /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B2830-9E69-EB2D-16EA-D4B99D62C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F5E6B91-94CF-7732-30B8-C5587D5A44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68773" y="461899"/>
            <a:ext cx="28536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2783831-803A-7C3B-94E7-C0F35CD4BA72}"/>
              </a:ext>
            </a:extLst>
          </p:cNvPr>
          <p:cNvSpPr txBox="1"/>
          <p:nvPr/>
        </p:nvSpPr>
        <p:spPr>
          <a:xfrm>
            <a:off x="76200" y="1447801"/>
            <a:ext cx="11879325" cy="5851088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– Overall Design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Project Modules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150000"/>
              </a:lnSpc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B5A9297-0DB2-DA06-D006-0F9C80AD114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7C8EA570-DF79-7196-07C8-4E79ECEDF2C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67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2400" y="461899"/>
            <a:ext cx="3560063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" y="1447801"/>
            <a:ext cx="11879325" cy="5031184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 plays a vital role in ensuring global food security and economic development.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crop monitoring methods are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labor-intensive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time-consuming, and limited in coverage.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Aerial imagery provides high-resolution data for monitoring crop conditions over large agricultural fields.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 and Machine Learning (ML) techniques enable automated crop health assessment and yield prediction.</a:t>
            </a: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integrates aerial imagery, image processing, deep learning, and data analytics to assist farmers in making informed decisions.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4600" y="461899"/>
            <a:ext cx="69342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/>
            <a:r>
              <a:rPr lang="en-IN" b="1" dirty="0"/>
              <a:t>Literature Review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0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5" y="71181"/>
            <a:ext cx="1520062" cy="134289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CE579CB-2C6F-FBE0-47B6-65F5F8C8C5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823972"/>
              </p:ext>
            </p:extLst>
          </p:nvPr>
        </p:nvGraphicFramePr>
        <p:xfrm>
          <a:off x="157735" y="1458972"/>
          <a:ext cx="11876532" cy="5181601"/>
        </p:xfrm>
        <a:graphic>
          <a:graphicData uri="http://schemas.openxmlformats.org/drawingml/2006/table">
            <a:tbl>
              <a:tblPr/>
              <a:tblGrid>
                <a:gridCol w="451865">
                  <a:extLst>
                    <a:ext uri="{9D8B030D-6E8A-4147-A177-3AD203B41FA5}">
                      <a16:colId xmlns:a16="http://schemas.microsoft.com/office/drawing/2014/main" val="407785596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45176562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175587849"/>
                    </a:ext>
                  </a:extLst>
                </a:gridCol>
                <a:gridCol w="2436623">
                  <a:extLst>
                    <a:ext uri="{9D8B030D-6E8A-4147-A177-3AD203B41FA5}">
                      <a16:colId xmlns:a16="http://schemas.microsoft.com/office/drawing/2014/main" val="1658004877"/>
                    </a:ext>
                  </a:extLst>
                </a:gridCol>
                <a:gridCol w="1979422">
                  <a:extLst>
                    <a:ext uri="{9D8B030D-6E8A-4147-A177-3AD203B41FA5}">
                      <a16:colId xmlns:a16="http://schemas.microsoft.com/office/drawing/2014/main" val="1702919978"/>
                    </a:ext>
                  </a:extLst>
                </a:gridCol>
                <a:gridCol w="1979422">
                  <a:extLst>
                    <a:ext uri="{9D8B030D-6E8A-4147-A177-3AD203B41FA5}">
                      <a16:colId xmlns:a16="http://schemas.microsoft.com/office/drawing/2014/main" val="2733904890"/>
                    </a:ext>
                  </a:extLst>
                </a:gridCol>
              </a:tblGrid>
              <a:tr h="195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/ Conference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Technologies Used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332920"/>
                  </a:ext>
                </a:extLst>
              </a:tr>
              <a:tr h="529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 Zhang et al., 2025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Learning-Based Crop Disease Detection Using UAV Aerial Images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International Conference on Smart Agriculture (ICSA 2025)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UAV Imagery, CNN, Deep Learning, OpenCV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decreases under varying lighting conditions.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587125"/>
                  </a:ext>
                </a:extLst>
              </a:tr>
              <a:tr h="5251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Maria Gonzalez et al., 2025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AI-Driven Crop Health Monitoring Using Multispectral Aerial Imagery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Computers and Electronics in Agriculture (Elsevier)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Multispectral Imaging, AI, TensorFlow, GIS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expensive multispectral cameras.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428052"/>
                  </a:ext>
                </a:extLst>
              </a:tr>
              <a:tr h="529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Rahul Sharma et al., 2026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Framework for Crop Yield Prediction Using Aerial Images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Learning, Random Forest, Python, Drone Imaging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 accuracy depends on the quality of training data.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688788"/>
                  </a:ext>
                </a:extLst>
              </a:tr>
              <a:tr h="696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Ahmed Hassan et al., 2025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 Agriculture Using Deep Learning and Remote Sensing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 Conference on Artificial Intelligence and Data Analytics (ICAIDA 2025)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Learning, Remote Sensing, Image Processing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validation across different crop varieties.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809608"/>
                  </a:ext>
                </a:extLst>
              </a:tr>
              <a:tr h="696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Emily Johnson et al., 2026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Crop Monitoring and Yield Estimation Using Computer Vision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ACM International Conference on Intelligent Computing Systems (ICICS 2026)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 Vision, CNN, OpenCV, TensorFlow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requirements for real-time processing.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936134"/>
                  </a:ext>
                </a:extLst>
              </a:tr>
              <a:tr h="613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Ramesh et al., 2025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Crop Health Assessment Using Aerial Image Analysis and Deep Learning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 Journal of Advanced Computer Science and Applications (IJACSA)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Python, Deep Learning, Image Segmentation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accuracy in cloudy weather conditions.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178844"/>
                  </a:ext>
                </a:extLst>
              </a:tr>
              <a:tr h="696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Yuki Tanaka et al., 2026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Agriculture: Aerial Image-Based Crop Monitoring with AI Analytics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International Conference on Computational Intelligence and Smart Systems (CISS 2026)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Artificial Intelligence, GIS, CNN, IoT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datasets increase processing time.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821731"/>
                  </a:ext>
                </a:extLst>
              </a:tr>
              <a:tr h="696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Priya Nair et al., 2025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Crop Yield Prediction Using Deep Neural Networks and Aerial Imagery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Springer International Conference on Machine Learning and Data Engineering (MLDE 2025)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Neural Networks, Python, TensorFlow, Image Processing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generalization to diverse geographical regions.</a:t>
                      </a:r>
                    </a:p>
                  </a:txBody>
                  <a:tcPr marL="10612" marR="10612" marT="5306" marB="530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12459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8029" y="461899"/>
            <a:ext cx="715200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7F70EA-9AD2-3E35-BB62-F8376E4FE5F2}"/>
              </a:ext>
            </a:extLst>
          </p:cNvPr>
          <p:cNvSpPr txBox="1"/>
          <p:nvPr/>
        </p:nvSpPr>
        <p:spPr>
          <a:xfrm>
            <a:off x="152400" y="1905000"/>
            <a:ext cx="11658600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Farmers face challenges in identifying crop stress, diseases, and nutrient deficiencies at an early stage.</a:t>
            </a:r>
          </a:p>
          <a:p>
            <a:pPr marL="0" marR="0" indent="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crop inspection is costly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slow, and prone to human error.</a:t>
            </a:r>
          </a:p>
          <a:p>
            <a:pPr marL="0" marR="0" indent="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Inaccurate yield estimation affects harvesting, storage, and market planning.</a:t>
            </a:r>
          </a:p>
          <a:p>
            <a:pPr marL="0" marR="0" indent="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intelligent system that automatically monitors crop conditions and predicts yield using aerial imagery and AI-based analytics.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8708A-F54B-24DF-02E6-51D0804D5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A28AC20-0EAF-8682-E9C1-F6F3C2EF6F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18029" y="461899"/>
            <a:ext cx="715200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D69D200-A1BC-C895-CC18-C0D25299A89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545F94CC-D047-A64D-2A8D-EA36F570A4F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C5EE42-582E-578B-6037-28899727CF4A}"/>
              </a:ext>
            </a:extLst>
          </p:cNvPr>
          <p:cNvSpPr txBox="1"/>
          <p:nvPr/>
        </p:nvSpPr>
        <p:spPr>
          <a:xfrm>
            <a:off x="152399" y="1981200"/>
            <a:ext cx="11881865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Acquire high-quality aerial images of agricultural fields.</a:t>
            </a:r>
          </a:p>
          <a:p>
            <a:pPr marL="0" marR="0" indent="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 crop health issues and diseases using image processing and deep learning.</a:t>
            </a:r>
          </a:p>
          <a:p>
            <a:pPr marL="0" marR="0" indent="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 crop yield using machine learning algorithms.</a:t>
            </a:r>
          </a:p>
          <a:p>
            <a:pPr marL="0" marR="0" indent="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an interactive dashboard for visualization, monitoring, and decision support.</a:t>
            </a:r>
          </a:p>
          <a:p>
            <a:pPr marL="0" marR="0" indent="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agricultural productivity through timely and data-driven insights.</a:t>
            </a:r>
          </a:p>
        </p:txBody>
      </p:sp>
    </p:spTree>
    <p:extLst>
      <p:ext uri="{BB962C8B-B14F-4D97-AF65-F5344CB8AC3E}">
        <p14:creationId xmlns:p14="http://schemas.microsoft.com/office/powerpoint/2010/main" val="4106558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CEBBF-6453-FFCF-5CD9-71687A8B0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059011B-E7F0-510C-A999-1BA03EE210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18029" y="461899"/>
            <a:ext cx="715200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B767395E-00F2-4160-22B9-1C00FE62D01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B15DDBE1-8013-D2A7-517E-394DD009BA8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36B035-CFC4-466A-47BB-77E0E668E5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89902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051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609599"/>
            <a:ext cx="8837803" cy="413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Introduction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49160"/>
            <a:ext cx="1090448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49159"/>
            <a:ext cx="1520062" cy="13428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6C62CA-DFA1-505A-D0E0-D0CE1B73AC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9" y="1392056"/>
            <a:ext cx="11805665" cy="53810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A64D4-E797-9AFA-D1BB-C2B0CA726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461899"/>
            <a:ext cx="8458200" cy="615553"/>
          </a:xfrm>
        </p:spPr>
        <p:txBody>
          <a:bodyPr/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8E98A-A6DD-4861-F07E-40C5943F3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340" y="1509941"/>
            <a:ext cx="10815319" cy="3257623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multispectral and hyperspectral imagery for improved analysis.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real-time IoT sensor data (soil moisture, temperature, humidity).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application for farmers to access reports and alerts.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real-time monitoring using live aerial image streams.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the system to support multiple crop types and different geographical regions.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weather forecasting to improve yield prediction accuracy.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0565C7A9-0022-623D-0D05-DD72DAE2C01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49160"/>
            <a:ext cx="1090448" cy="1342897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3571ED3D-F01E-B9F5-CFE9-D920460AA36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49159"/>
            <a:ext cx="152006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990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E7382-D735-2C42-4DDE-DA2674E9D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40FFF-3F59-0656-21FC-78A923582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461899"/>
            <a:ext cx="8458200" cy="615553"/>
          </a:xfrm>
        </p:spPr>
        <p:txBody>
          <a:bodyPr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CE139-CE99-61A8-23C7-C27E3A281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509941"/>
            <a:ext cx="11805665" cy="4919616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combines aerial imagery, computer vision, and artificial intelligence to improve precision agriculture.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efficient crop health monitoring, disease detection, and accurate yield prediction.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visualization and decision-support tools help farmers make informed agricultural decisions.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manual effort while increasing productivity and sustainability.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contributes to smarter, technology-driven farming and supports sustainable agricultural development.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28A8E582-C029-E6F0-0115-AF1653D862A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49160"/>
            <a:ext cx="1090448" cy="1342897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294471A4-EF2A-BF00-92FE-FE449C0F541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49159"/>
            <a:ext cx="152006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324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172</TotalTime>
  <Words>798</Words>
  <Application>Microsoft Office PowerPoint</Application>
  <PresentationFormat>Widescreen</PresentationFormat>
  <Paragraphs>109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AERIAL CROP MONITORING AND YIELD PREDICTION USING AERIAL IMAGERY</vt:lpstr>
      <vt:lpstr>Agenda</vt:lpstr>
      <vt:lpstr>Introduction</vt:lpstr>
      <vt:lpstr>Literature Review</vt:lpstr>
      <vt:lpstr>Problem Statement</vt:lpstr>
      <vt:lpstr>Objectives</vt:lpstr>
      <vt:lpstr>PowerPoint Presentation</vt:lpstr>
      <vt:lpstr>Modules Introduction</vt:lpstr>
      <vt:lpstr>Future Enhancements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cp:lastModifiedBy>kandi manojkumar</cp:lastModifiedBy>
  <cp:revision>5</cp:revision>
  <dcterms:created xsi:type="dcterms:W3CDTF">2025-03-19T13:35:36Z</dcterms:created>
  <dcterms:modified xsi:type="dcterms:W3CDTF">2026-07-23T05:45:45Z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2025-03-19T00:00:00Z</vt:filetime>
  </property>
</Properties>
</file>